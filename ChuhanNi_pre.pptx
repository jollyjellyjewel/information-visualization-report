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76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D244D-8004-CAFE-18F0-1A50623680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E05C22-7C77-1883-DCAE-EDC12FCFC3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63F8AA-81D5-F301-5147-A85EE3CA43C4}"/>
              </a:ext>
            </a:extLst>
          </p:cNvPr>
          <p:cNvSpPr>
            <a:spLocks noGrp="1"/>
          </p:cNvSpPr>
          <p:nvPr>
            <p:ph type="dt" sz="half" idx="10"/>
          </p:nvPr>
        </p:nvSpPr>
        <p:spPr/>
        <p:txBody>
          <a:bodyPr/>
          <a:lstStyle/>
          <a:p>
            <a:fld id="{07407331-9818-4CAD-8613-156768F1BF30}" type="datetimeFigureOut">
              <a:rPr lang="en-US" smtClean="0"/>
              <a:t>12/11/2025</a:t>
            </a:fld>
            <a:endParaRPr lang="en-US"/>
          </a:p>
        </p:txBody>
      </p:sp>
      <p:sp>
        <p:nvSpPr>
          <p:cNvPr id="5" name="Footer Placeholder 4">
            <a:extLst>
              <a:ext uri="{FF2B5EF4-FFF2-40B4-BE49-F238E27FC236}">
                <a16:creationId xmlns:a16="http://schemas.microsoft.com/office/drawing/2014/main" id="{B54D32E1-0551-507F-929B-02FE19EB83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12968F-57F0-BDB4-B316-C816EC16BD1E}"/>
              </a:ext>
            </a:extLst>
          </p:cNvPr>
          <p:cNvSpPr>
            <a:spLocks noGrp="1"/>
          </p:cNvSpPr>
          <p:nvPr>
            <p:ph type="sldNum" sz="quarter" idx="12"/>
          </p:nvPr>
        </p:nvSpPr>
        <p:spPr/>
        <p:txBody>
          <a:bodyPr/>
          <a:lstStyle/>
          <a:p>
            <a:fld id="{E9C48942-FBBE-4FE7-A6F2-DDF6211920A4}" type="slidenum">
              <a:rPr lang="en-US" smtClean="0"/>
              <a:t>‹#›</a:t>
            </a:fld>
            <a:endParaRPr lang="en-US"/>
          </a:p>
        </p:txBody>
      </p:sp>
    </p:spTree>
    <p:extLst>
      <p:ext uri="{BB962C8B-B14F-4D97-AF65-F5344CB8AC3E}">
        <p14:creationId xmlns:p14="http://schemas.microsoft.com/office/powerpoint/2010/main" val="2282898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F5F1F-3B2D-C2D9-C767-F9784D562A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48CA1B-66FA-8E79-AD1C-EE6DF35A91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4D1E26-7FE7-E3D4-F2BA-C8C33BD74C1C}"/>
              </a:ext>
            </a:extLst>
          </p:cNvPr>
          <p:cNvSpPr>
            <a:spLocks noGrp="1"/>
          </p:cNvSpPr>
          <p:nvPr>
            <p:ph type="dt" sz="half" idx="10"/>
          </p:nvPr>
        </p:nvSpPr>
        <p:spPr/>
        <p:txBody>
          <a:bodyPr/>
          <a:lstStyle/>
          <a:p>
            <a:fld id="{07407331-9818-4CAD-8613-156768F1BF30}" type="datetimeFigureOut">
              <a:rPr lang="en-US" smtClean="0"/>
              <a:t>12/11/2025</a:t>
            </a:fld>
            <a:endParaRPr lang="en-US"/>
          </a:p>
        </p:txBody>
      </p:sp>
      <p:sp>
        <p:nvSpPr>
          <p:cNvPr id="5" name="Footer Placeholder 4">
            <a:extLst>
              <a:ext uri="{FF2B5EF4-FFF2-40B4-BE49-F238E27FC236}">
                <a16:creationId xmlns:a16="http://schemas.microsoft.com/office/drawing/2014/main" id="{FAD4891D-B199-92AB-2B07-DA58C7BB1F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235C2C-CB80-9723-0A54-692782DFB76C}"/>
              </a:ext>
            </a:extLst>
          </p:cNvPr>
          <p:cNvSpPr>
            <a:spLocks noGrp="1"/>
          </p:cNvSpPr>
          <p:nvPr>
            <p:ph type="sldNum" sz="quarter" idx="12"/>
          </p:nvPr>
        </p:nvSpPr>
        <p:spPr/>
        <p:txBody>
          <a:bodyPr/>
          <a:lstStyle/>
          <a:p>
            <a:fld id="{E9C48942-FBBE-4FE7-A6F2-DDF6211920A4}" type="slidenum">
              <a:rPr lang="en-US" smtClean="0"/>
              <a:t>‹#›</a:t>
            </a:fld>
            <a:endParaRPr lang="en-US"/>
          </a:p>
        </p:txBody>
      </p:sp>
    </p:spTree>
    <p:extLst>
      <p:ext uri="{BB962C8B-B14F-4D97-AF65-F5344CB8AC3E}">
        <p14:creationId xmlns:p14="http://schemas.microsoft.com/office/powerpoint/2010/main" val="1074637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F0CB4-9D60-2469-5030-A58C358D13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6E852E8-EAF7-3D7E-8957-D05E71E6774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A6E74C-C836-896A-0123-B0F454808C09}"/>
              </a:ext>
            </a:extLst>
          </p:cNvPr>
          <p:cNvSpPr>
            <a:spLocks noGrp="1"/>
          </p:cNvSpPr>
          <p:nvPr>
            <p:ph type="dt" sz="half" idx="10"/>
          </p:nvPr>
        </p:nvSpPr>
        <p:spPr/>
        <p:txBody>
          <a:bodyPr/>
          <a:lstStyle/>
          <a:p>
            <a:fld id="{07407331-9818-4CAD-8613-156768F1BF30}" type="datetimeFigureOut">
              <a:rPr lang="en-US" smtClean="0"/>
              <a:t>12/11/2025</a:t>
            </a:fld>
            <a:endParaRPr lang="en-US"/>
          </a:p>
        </p:txBody>
      </p:sp>
      <p:sp>
        <p:nvSpPr>
          <p:cNvPr id="5" name="Footer Placeholder 4">
            <a:extLst>
              <a:ext uri="{FF2B5EF4-FFF2-40B4-BE49-F238E27FC236}">
                <a16:creationId xmlns:a16="http://schemas.microsoft.com/office/drawing/2014/main" id="{82FFCB94-1E58-44E1-5B96-D49E02AF59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672F7D-652E-2F76-5539-E4790517F2D6}"/>
              </a:ext>
            </a:extLst>
          </p:cNvPr>
          <p:cNvSpPr>
            <a:spLocks noGrp="1"/>
          </p:cNvSpPr>
          <p:nvPr>
            <p:ph type="sldNum" sz="quarter" idx="12"/>
          </p:nvPr>
        </p:nvSpPr>
        <p:spPr/>
        <p:txBody>
          <a:bodyPr/>
          <a:lstStyle/>
          <a:p>
            <a:fld id="{E9C48942-FBBE-4FE7-A6F2-DDF6211920A4}" type="slidenum">
              <a:rPr lang="en-US" smtClean="0"/>
              <a:t>‹#›</a:t>
            </a:fld>
            <a:endParaRPr lang="en-US"/>
          </a:p>
        </p:txBody>
      </p:sp>
    </p:spTree>
    <p:extLst>
      <p:ext uri="{BB962C8B-B14F-4D97-AF65-F5344CB8AC3E}">
        <p14:creationId xmlns:p14="http://schemas.microsoft.com/office/powerpoint/2010/main" val="3549192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7CAD3-459B-695C-AFC2-456475E071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005471-C734-A60B-440C-35E1F5A114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ADEB1CD-463C-E4B0-163A-7C30630CBE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71A6C75-A45E-5080-5A7E-C6A488C0291B}"/>
              </a:ext>
            </a:extLst>
          </p:cNvPr>
          <p:cNvSpPr>
            <a:spLocks noGrp="1"/>
          </p:cNvSpPr>
          <p:nvPr>
            <p:ph type="dt" sz="half" idx="10"/>
          </p:nvPr>
        </p:nvSpPr>
        <p:spPr/>
        <p:txBody>
          <a:bodyPr/>
          <a:lstStyle/>
          <a:p>
            <a:fld id="{07407331-9818-4CAD-8613-156768F1BF30}" type="datetimeFigureOut">
              <a:rPr lang="en-US" smtClean="0"/>
              <a:t>12/11/2025</a:t>
            </a:fld>
            <a:endParaRPr lang="en-US"/>
          </a:p>
        </p:txBody>
      </p:sp>
      <p:sp>
        <p:nvSpPr>
          <p:cNvPr id="6" name="Footer Placeholder 5">
            <a:extLst>
              <a:ext uri="{FF2B5EF4-FFF2-40B4-BE49-F238E27FC236}">
                <a16:creationId xmlns:a16="http://schemas.microsoft.com/office/drawing/2014/main" id="{BDACADE2-229E-F7AB-33AB-A5FA915DB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4E3814-F896-FCC3-9737-FC82EDC0DB08}"/>
              </a:ext>
            </a:extLst>
          </p:cNvPr>
          <p:cNvSpPr>
            <a:spLocks noGrp="1"/>
          </p:cNvSpPr>
          <p:nvPr>
            <p:ph type="sldNum" sz="quarter" idx="12"/>
          </p:nvPr>
        </p:nvSpPr>
        <p:spPr/>
        <p:txBody>
          <a:bodyPr/>
          <a:lstStyle/>
          <a:p>
            <a:fld id="{E9C48942-FBBE-4FE7-A6F2-DDF6211920A4}" type="slidenum">
              <a:rPr lang="en-US" smtClean="0"/>
              <a:t>‹#›</a:t>
            </a:fld>
            <a:endParaRPr lang="en-US"/>
          </a:p>
        </p:txBody>
      </p:sp>
    </p:spTree>
    <p:extLst>
      <p:ext uri="{BB962C8B-B14F-4D97-AF65-F5344CB8AC3E}">
        <p14:creationId xmlns:p14="http://schemas.microsoft.com/office/powerpoint/2010/main" val="3024088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860D9-FCCD-26B9-569B-C7E40C6B083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7D06DD-101A-3AF3-D647-0BF6582A8C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C38865-441B-37C7-E71A-9A84A258B6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F216AC-DD59-E653-105D-73237F7AA0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4A070C-F8DC-2943-D3A2-14517383A7B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10D213C-E3E2-DFA3-96F3-4FF985EC643A}"/>
              </a:ext>
            </a:extLst>
          </p:cNvPr>
          <p:cNvSpPr>
            <a:spLocks noGrp="1"/>
          </p:cNvSpPr>
          <p:nvPr>
            <p:ph type="dt" sz="half" idx="10"/>
          </p:nvPr>
        </p:nvSpPr>
        <p:spPr/>
        <p:txBody>
          <a:bodyPr/>
          <a:lstStyle/>
          <a:p>
            <a:fld id="{07407331-9818-4CAD-8613-156768F1BF30}" type="datetimeFigureOut">
              <a:rPr lang="en-US" smtClean="0"/>
              <a:t>12/11/2025</a:t>
            </a:fld>
            <a:endParaRPr lang="en-US"/>
          </a:p>
        </p:txBody>
      </p:sp>
      <p:sp>
        <p:nvSpPr>
          <p:cNvPr id="8" name="Footer Placeholder 7">
            <a:extLst>
              <a:ext uri="{FF2B5EF4-FFF2-40B4-BE49-F238E27FC236}">
                <a16:creationId xmlns:a16="http://schemas.microsoft.com/office/drawing/2014/main" id="{58EFF076-AB37-5DD4-BF8E-16CE15EA7E6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254A1F0-2ADA-63EC-27CD-10A39997134B}"/>
              </a:ext>
            </a:extLst>
          </p:cNvPr>
          <p:cNvSpPr>
            <a:spLocks noGrp="1"/>
          </p:cNvSpPr>
          <p:nvPr>
            <p:ph type="sldNum" sz="quarter" idx="12"/>
          </p:nvPr>
        </p:nvSpPr>
        <p:spPr/>
        <p:txBody>
          <a:bodyPr/>
          <a:lstStyle/>
          <a:p>
            <a:fld id="{E9C48942-FBBE-4FE7-A6F2-DDF6211920A4}" type="slidenum">
              <a:rPr lang="en-US" smtClean="0"/>
              <a:t>‹#›</a:t>
            </a:fld>
            <a:endParaRPr lang="en-US"/>
          </a:p>
        </p:txBody>
      </p:sp>
    </p:spTree>
    <p:extLst>
      <p:ext uri="{BB962C8B-B14F-4D97-AF65-F5344CB8AC3E}">
        <p14:creationId xmlns:p14="http://schemas.microsoft.com/office/powerpoint/2010/main" val="700844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A5329-43B7-45D4-CFD8-BE81BD7FC0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80654CD-0110-C60B-D43D-646B9C2D09CB}"/>
              </a:ext>
            </a:extLst>
          </p:cNvPr>
          <p:cNvSpPr>
            <a:spLocks noGrp="1"/>
          </p:cNvSpPr>
          <p:nvPr>
            <p:ph type="dt" sz="half" idx="10"/>
          </p:nvPr>
        </p:nvSpPr>
        <p:spPr/>
        <p:txBody>
          <a:bodyPr/>
          <a:lstStyle/>
          <a:p>
            <a:fld id="{07407331-9818-4CAD-8613-156768F1BF30}" type="datetimeFigureOut">
              <a:rPr lang="en-US" smtClean="0"/>
              <a:t>12/11/2025</a:t>
            </a:fld>
            <a:endParaRPr lang="en-US"/>
          </a:p>
        </p:txBody>
      </p:sp>
      <p:sp>
        <p:nvSpPr>
          <p:cNvPr id="4" name="Footer Placeholder 3">
            <a:extLst>
              <a:ext uri="{FF2B5EF4-FFF2-40B4-BE49-F238E27FC236}">
                <a16:creationId xmlns:a16="http://schemas.microsoft.com/office/drawing/2014/main" id="{62F30F60-40B9-BE3B-F18D-8CD25DC7383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26D2F49-2B61-744E-5F22-F115F1DEBF52}"/>
              </a:ext>
            </a:extLst>
          </p:cNvPr>
          <p:cNvSpPr>
            <a:spLocks noGrp="1"/>
          </p:cNvSpPr>
          <p:nvPr>
            <p:ph type="sldNum" sz="quarter" idx="12"/>
          </p:nvPr>
        </p:nvSpPr>
        <p:spPr/>
        <p:txBody>
          <a:bodyPr/>
          <a:lstStyle/>
          <a:p>
            <a:fld id="{E9C48942-FBBE-4FE7-A6F2-DDF6211920A4}" type="slidenum">
              <a:rPr lang="en-US" smtClean="0"/>
              <a:t>‹#›</a:t>
            </a:fld>
            <a:endParaRPr lang="en-US"/>
          </a:p>
        </p:txBody>
      </p:sp>
    </p:spTree>
    <p:extLst>
      <p:ext uri="{BB962C8B-B14F-4D97-AF65-F5344CB8AC3E}">
        <p14:creationId xmlns:p14="http://schemas.microsoft.com/office/powerpoint/2010/main" val="22299433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CCC4F2-2106-DBFD-11AC-A306F4A810AF}"/>
              </a:ext>
            </a:extLst>
          </p:cNvPr>
          <p:cNvSpPr>
            <a:spLocks noGrp="1"/>
          </p:cNvSpPr>
          <p:nvPr>
            <p:ph type="dt" sz="half" idx="10"/>
          </p:nvPr>
        </p:nvSpPr>
        <p:spPr/>
        <p:txBody>
          <a:bodyPr/>
          <a:lstStyle/>
          <a:p>
            <a:fld id="{07407331-9818-4CAD-8613-156768F1BF30}" type="datetimeFigureOut">
              <a:rPr lang="en-US" smtClean="0"/>
              <a:t>12/11/2025</a:t>
            </a:fld>
            <a:endParaRPr lang="en-US"/>
          </a:p>
        </p:txBody>
      </p:sp>
      <p:sp>
        <p:nvSpPr>
          <p:cNvPr id="3" name="Footer Placeholder 2">
            <a:extLst>
              <a:ext uri="{FF2B5EF4-FFF2-40B4-BE49-F238E27FC236}">
                <a16:creationId xmlns:a16="http://schemas.microsoft.com/office/drawing/2014/main" id="{934D3750-BEFC-453E-F327-96FF1937E5D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173EDF9-386F-F220-E738-361964629643}"/>
              </a:ext>
            </a:extLst>
          </p:cNvPr>
          <p:cNvSpPr>
            <a:spLocks noGrp="1"/>
          </p:cNvSpPr>
          <p:nvPr>
            <p:ph type="sldNum" sz="quarter" idx="12"/>
          </p:nvPr>
        </p:nvSpPr>
        <p:spPr/>
        <p:txBody>
          <a:bodyPr/>
          <a:lstStyle/>
          <a:p>
            <a:fld id="{E9C48942-FBBE-4FE7-A6F2-DDF6211920A4}" type="slidenum">
              <a:rPr lang="en-US" smtClean="0"/>
              <a:t>‹#›</a:t>
            </a:fld>
            <a:endParaRPr lang="en-US"/>
          </a:p>
        </p:txBody>
      </p:sp>
    </p:spTree>
    <p:extLst>
      <p:ext uri="{BB962C8B-B14F-4D97-AF65-F5344CB8AC3E}">
        <p14:creationId xmlns:p14="http://schemas.microsoft.com/office/powerpoint/2010/main" val="34539033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88B7E-0A09-1A96-AB77-2ED3153DE9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87A09A-3B32-4066-DA7E-F9D0BB5218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5F0C2A-3B15-4118-377A-3B42428E95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C81205-A74C-74E8-6A34-58A923E0ADA3}"/>
              </a:ext>
            </a:extLst>
          </p:cNvPr>
          <p:cNvSpPr>
            <a:spLocks noGrp="1"/>
          </p:cNvSpPr>
          <p:nvPr>
            <p:ph type="dt" sz="half" idx="10"/>
          </p:nvPr>
        </p:nvSpPr>
        <p:spPr/>
        <p:txBody>
          <a:bodyPr/>
          <a:lstStyle/>
          <a:p>
            <a:fld id="{07407331-9818-4CAD-8613-156768F1BF30}" type="datetimeFigureOut">
              <a:rPr lang="en-US" smtClean="0"/>
              <a:t>12/11/2025</a:t>
            </a:fld>
            <a:endParaRPr lang="en-US"/>
          </a:p>
        </p:txBody>
      </p:sp>
      <p:sp>
        <p:nvSpPr>
          <p:cNvPr id="6" name="Footer Placeholder 5">
            <a:extLst>
              <a:ext uri="{FF2B5EF4-FFF2-40B4-BE49-F238E27FC236}">
                <a16:creationId xmlns:a16="http://schemas.microsoft.com/office/drawing/2014/main" id="{40A748FC-DD17-29C4-1757-9623B956D5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02B8DA-7BF0-783F-B229-3EE4EEA70740}"/>
              </a:ext>
            </a:extLst>
          </p:cNvPr>
          <p:cNvSpPr>
            <a:spLocks noGrp="1"/>
          </p:cNvSpPr>
          <p:nvPr>
            <p:ph type="sldNum" sz="quarter" idx="12"/>
          </p:nvPr>
        </p:nvSpPr>
        <p:spPr/>
        <p:txBody>
          <a:bodyPr/>
          <a:lstStyle/>
          <a:p>
            <a:fld id="{E9C48942-FBBE-4FE7-A6F2-DDF6211920A4}" type="slidenum">
              <a:rPr lang="en-US" smtClean="0"/>
              <a:t>‹#›</a:t>
            </a:fld>
            <a:endParaRPr lang="en-US"/>
          </a:p>
        </p:txBody>
      </p:sp>
    </p:spTree>
    <p:extLst>
      <p:ext uri="{BB962C8B-B14F-4D97-AF65-F5344CB8AC3E}">
        <p14:creationId xmlns:p14="http://schemas.microsoft.com/office/powerpoint/2010/main" val="3498206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D7D56-69CD-EC43-5AC2-0A3C635AAA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C88A341-5B2A-AB94-54A9-0CA558203E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0F7D4EA-CBAB-2E62-614E-5AD696AD64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0B5BD2-8D04-E13D-53D3-24C4A2CC51BF}"/>
              </a:ext>
            </a:extLst>
          </p:cNvPr>
          <p:cNvSpPr>
            <a:spLocks noGrp="1"/>
          </p:cNvSpPr>
          <p:nvPr>
            <p:ph type="dt" sz="half" idx="10"/>
          </p:nvPr>
        </p:nvSpPr>
        <p:spPr/>
        <p:txBody>
          <a:bodyPr/>
          <a:lstStyle/>
          <a:p>
            <a:fld id="{07407331-9818-4CAD-8613-156768F1BF30}" type="datetimeFigureOut">
              <a:rPr lang="en-US" smtClean="0"/>
              <a:t>12/11/2025</a:t>
            </a:fld>
            <a:endParaRPr lang="en-US"/>
          </a:p>
        </p:txBody>
      </p:sp>
      <p:sp>
        <p:nvSpPr>
          <p:cNvPr id="6" name="Footer Placeholder 5">
            <a:extLst>
              <a:ext uri="{FF2B5EF4-FFF2-40B4-BE49-F238E27FC236}">
                <a16:creationId xmlns:a16="http://schemas.microsoft.com/office/drawing/2014/main" id="{0AC3E754-99E2-82BF-B3C4-85389E21A9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C533EB-54F0-89F0-F6F7-AC4DB54A5062}"/>
              </a:ext>
            </a:extLst>
          </p:cNvPr>
          <p:cNvSpPr>
            <a:spLocks noGrp="1"/>
          </p:cNvSpPr>
          <p:nvPr>
            <p:ph type="sldNum" sz="quarter" idx="12"/>
          </p:nvPr>
        </p:nvSpPr>
        <p:spPr/>
        <p:txBody>
          <a:bodyPr/>
          <a:lstStyle/>
          <a:p>
            <a:fld id="{E9C48942-FBBE-4FE7-A6F2-DDF6211920A4}" type="slidenum">
              <a:rPr lang="en-US" smtClean="0"/>
              <a:t>‹#›</a:t>
            </a:fld>
            <a:endParaRPr lang="en-US"/>
          </a:p>
        </p:txBody>
      </p:sp>
    </p:spTree>
    <p:extLst>
      <p:ext uri="{BB962C8B-B14F-4D97-AF65-F5344CB8AC3E}">
        <p14:creationId xmlns:p14="http://schemas.microsoft.com/office/powerpoint/2010/main" val="692491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A2D24-B0CB-5463-D3E8-5CFB6EE7F1F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00E45B6-BEAB-F8D7-1E07-7265BF69CE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C67F97-9FF3-949F-AF14-33CF2B8499E1}"/>
              </a:ext>
            </a:extLst>
          </p:cNvPr>
          <p:cNvSpPr>
            <a:spLocks noGrp="1"/>
          </p:cNvSpPr>
          <p:nvPr>
            <p:ph type="dt" sz="half" idx="10"/>
          </p:nvPr>
        </p:nvSpPr>
        <p:spPr/>
        <p:txBody>
          <a:bodyPr/>
          <a:lstStyle/>
          <a:p>
            <a:fld id="{07407331-9818-4CAD-8613-156768F1BF30}" type="datetimeFigureOut">
              <a:rPr lang="en-US" smtClean="0"/>
              <a:t>12/11/2025</a:t>
            </a:fld>
            <a:endParaRPr lang="en-US"/>
          </a:p>
        </p:txBody>
      </p:sp>
      <p:sp>
        <p:nvSpPr>
          <p:cNvPr id="5" name="Footer Placeholder 4">
            <a:extLst>
              <a:ext uri="{FF2B5EF4-FFF2-40B4-BE49-F238E27FC236}">
                <a16:creationId xmlns:a16="http://schemas.microsoft.com/office/drawing/2014/main" id="{909782DB-BCF8-4999-F388-E0FAE7435D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AA7E57-F409-41DF-DA4F-3FF1ADF86043}"/>
              </a:ext>
            </a:extLst>
          </p:cNvPr>
          <p:cNvSpPr>
            <a:spLocks noGrp="1"/>
          </p:cNvSpPr>
          <p:nvPr>
            <p:ph type="sldNum" sz="quarter" idx="12"/>
          </p:nvPr>
        </p:nvSpPr>
        <p:spPr/>
        <p:txBody>
          <a:bodyPr/>
          <a:lstStyle/>
          <a:p>
            <a:fld id="{E9C48942-FBBE-4FE7-A6F2-DDF6211920A4}" type="slidenum">
              <a:rPr lang="en-US" smtClean="0"/>
              <a:t>‹#›</a:t>
            </a:fld>
            <a:endParaRPr lang="en-US"/>
          </a:p>
        </p:txBody>
      </p:sp>
    </p:spTree>
    <p:extLst>
      <p:ext uri="{BB962C8B-B14F-4D97-AF65-F5344CB8AC3E}">
        <p14:creationId xmlns:p14="http://schemas.microsoft.com/office/powerpoint/2010/main" val="16720105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163C27-F0A6-89E4-34EB-76D1F57579B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A21681B-08CF-FAEF-972B-E8B2B79841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33D4F-345B-9469-BE27-F71B33B91E35}"/>
              </a:ext>
            </a:extLst>
          </p:cNvPr>
          <p:cNvSpPr>
            <a:spLocks noGrp="1"/>
          </p:cNvSpPr>
          <p:nvPr>
            <p:ph type="dt" sz="half" idx="10"/>
          </p:nvPr>
        </p:nvSpPr>
        <p:spPr/>
        <p:txBody>
          <a:bodyPr/>
          <a:lstStyle/>
          <a:p>
            <a:fld id="{07407331-9818-4CAD-8613-156768F1BF30}" type="datetimeFigureOut">
              <a:rPr lang="en-US" smtClean="0"/>
              <a:t>12/11/2025</a:t>
            </a:fld>
            <a:endParaRPr lang="en-US"/>
          </a:p>
        </p:txBody>
      </p:sp>
      <p:sp>
        <p:nvSpPr>
          <p:cNvPr id="5" name="Footer Placeholder 4">
            <a:extLst>
              <a:ext uri="{FF2B5EF4-FFF2-40B4-BE49-F238E27FC236}">
                <a16:creationId xmlns:a16="http://schemas.microsoft.com/office/drawing/2014/main" id="{45320703-55B1-2138-B0A9-8695ADF21E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4344FA-3914-E4AF-5EAC-D0A926A3DC03}"/>
              </a:ext>
            </a:extLst>
          </p:cNvPr>
          <p:cNvSpPr>
            <a:spLocks noGrp="1"/>
          </p:cNvSpPr>
          <p:nvPr>
            <p:ph type="sldNum" sz="quarter" idx="12"/>
          </p:nvPr>
        </p:nvSpPr>
        <p:spPr/>
        <p:txBody>
          <a:bodyPr/>
          <a:lstStyle/>
          <a:p>
            <a:fld id="{E9C48942-FBBE-4FE7-A6F2-DDF6211920A4}" type="slidenum">
              <a:rPr lang="en-US" smtClean="0"/>
              <a:t>‹#›</a:t>
            </a:fld>
            <a:endParaRPr lang="en-US"/>
          </a:p>
        </p:txBody>
      </p:sp>
    </p:spTree>
    <p:extLst>
      <p:ext uri="{BB962C8B-B14F-4D97-AF65-F5344CB8AC3E}">
        <p14:creationId xmlns:p14="http://schemas.microsoft.com/office/powerpoint/2010/main" val="4202372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8EFA15-62AB-502F-2913-6C5D110536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76543D7-B860-FEAD-49BC-0340B021CA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C8819F-9614-76BF-A552-44C5D9DA12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407331-9818-4CAD-8613-156768F1BF30}" type="datetimeFigureOut">
              <a:rPr lang="en-US" smtClean="0"/>
              <a:t>12/11/2025</a:t>
            </a:fld>
            <a:endParaRPr lang="en-US"/>
          </a:p>
        </p:txBody>
      </p:sp>
      <p:sp>
        <p:nvSpPr>
          <p:cNvPr id="5" name="Footer Placeholder 4">
            <a:extLst>
              <a:ext uri="{FF2B5EF4-FFF2-40B4-BE49-F238E27FC236}">
                <a16:creationId xmlns:a16="http://schemas.microsoft.com/office/drawing/2014/main" id="{28974F48-1324-6D82-E845-34B733BADC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0E6C587-6FBA-A2CD-757B-19D441147A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9C48942-FBBE-4FE7-A6F2-DDF6211920A4}" type="slidenum">
              <a:rPr lang="en-US" smtClean="0"/>
              <a:t>‹#›</a:t>
            </a:fld>
            <a:endParaRPr lang="en-US"/>
          </a:p>
        </p:txBody>
      </p:sp>
    </p:spTree>
    <p:extLst>
      <p:ext uri="{BB962C8B-B14F-4D97-AF65-F5344CB8AC3E}">
        <p14:creationId xmlns:p14="http://schemas.microsoft.com/office/powerpoint/2010/main" val="34433884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01F60-BDD3-98E8-C4C3-430B543A3DD0}"/>
              </a:ext>
            </a:extLst>
          </p:cNvPr>
          <p:cNvSpPr>
            <a:spLocks noGrp="1"/>
          </p:cNvSpPr>
          <p:nvPr>
            <p:ph type="ctrTitle"/>
          </p:nvPr>
        </p:nvSpPr>
        <p:spPr>
          <a:xfrm>
            <a:off x="0" y="0"/>
            <a:ext cx="11384629" cy="523512"/>
          </a:xfrm>
        </p:spPr>
        <p:txBody>
          <a:bodyPr>
            <a:normAutofit/>
          </a:bodyPr>
          <a:lstStyle/>
          <a:p>
            <a:r>
              <a:rPr lang="en-US" sz="2200" b="1" dirty="0">
                <a:latin typeface="Arial" panose="020B0604020202020204" pitchFamily="34" charset="0"/>
                <a:cs typeface="Arial" panose="020B0604020202020204" pitchFamily="34" charset="0"/>
              </a:rPr>
              <a:t>Rumor Propagation in the PHEME Dataset: Insights from the Charlie Hebdo Event</a:t>
            </a:r>
            <a:endParaRPr lang="en-US" dirty="0"/>
          </a:p>
        </p:txBody>
      </p:sp>
      <p:pic>
        <p:nvPicPr>
          <p:cNvPr id="4" name="Picture 3">
            <a:extLst>
              <a:ext uri="{FF2B5EF4-FFF2-40B4-BE49-F238E27FC236}">
                <a16:creationId xmlns:a16="http://schemas.microsoft.com/office/drawing/2014/main" id="{4A3FD47C-B36F-28E4-541A-787E41F9872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620" y="580317"/>
            <a:ext cx="5962380" cy="4452373"/>
          </a:xfrm>
          <a:prstGeom prst="rect">
            <a:avLst/>
          </a:prstGeom>
          <a:noFill/>
          <a:ln>
            <a:noFill/>
          </a:ln>
        </p:spPr>
      </p:pic>
      <p:sp>
        <p:nvSpPr>
          <p:cNvPr id="7" name="Rectangle 2">
            <a:extLst>
              <a:ext uri="{FF2B5EF4-FFF2-40B4-BE49-F238E27FC236}">
                <a16:creationId xmlns:a16="http://schemas.microsoft.com/office/drawing/2014/main" id="{D0883981-089F-D17B-5A36-CF0BDAFE08C9}"/>
              </a:ext>
            </a:extLst>
          </p:cNvPr>
          <p:cNvSpPr>
            <a:spLocks noChangeArrowheads="1"/>
          </p:cNvSpPr>
          <p:nvPr/>
        </p:nvSpPr>
        <p:spPr bwMode="auto">
          <a:xfrm>
            <a:off x="6796951" y="1111666"/>
            <a:ext cx="5188857"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Nodes = Twitter users</a:t>
            </a:r>
            <a:r>
              <a:rPr kumimoji="0" lang="en-US" altLang="en-US" sz="1800" b="0" i="0" u="none" strike="noStrike" cap="none" normalizeH="0" baseline="0" dirty="0">
                <a:ln>
                  <a:noFill/>
                </a:ln>
                <a:solidFill>
                  <a:schemeClr val="tx1"/>
                </a:solidFill>
                <a:effectLst/>
                <a:latin typeface="Arial" panose="020B0604020202020204" pitchFamily="34" charset="0"/>
              </a:rPr>
              <a:t> participating in rumor or non-rumor discussions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Edges = Interactions</a:t>
            </a:r>
            <a:r>
              <a:rPr kumimoji="0" lang="en-US" altLang="en-US" sz="1800" b="0" i="0" u="none" strike="noStrike" cap="none" normalizeH="0" baseline="0" dirty="0">
                <a:ln>
                  <a:noFill/>
                </a:ln>
                <a:solidFill>
                  <a:schemeClr val="tx1"/>
                </a:solidFill>
                <a:effectLst/>
                <a:latin typeface="Arial" panose="020B0604020202020204" pitchFamily="34" charset="0"/>
              </a:rPr>
              <a:t> (reply / retweet) between users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Node size = Influence level</a:t>
            </a:r>
            <a:r>
              <a:rPr kumimoji="0" lang="en-US" altLang="en-US" sz="1800" b="0" i="0" u="none" strike="noStrike" cap="none" normalizeH="0" baseline="0" dirty="0">
                <a:ln>
                  <a:noFill/>
                </a:ln>
                <a:solidFill>
                  <a:schemeClr val="tx1"/>
                </a:solidFill>
                <a:effectLst/>
                <a:latin typeface="Arial" panose="020B0604020202020204" pitchFamily="34" charset="0"/>
              </a:rPr>
              <a:t> (degree; larger = more connected)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Node color = k-core shell</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Yellow → highly connected core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Purple → peripheral participants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Black outline = origin tweets</a:t>
            </a:r>
            <a:r>
              <a:rPr kumimoji="0" lang="en-US" altLang="en-US" sz="1800" b="0" i="0" u="none" strike="noStrike" cap="none" normalizeH="0" baseline="0" dirty="0">
                <a:ln>
                  <a:noFill/>
                </a:ln>
                <a:solidFill>
                  <a:schemeClr val="tx1"/>
                </a:solidFill>
                <a:effectLst/>
                <a:latin typeface="Arial" panose="020B0604020202020204" pitchFamily="34" charset="0"/>
              </a:rPr>
              <a:t> (starting points of rumor threads)</a:t>
            </a:r>
          </a:p>
        </p:txBody>
      </p:sp>
      <p:sp>
        <p:nvSpPr>
          <p:cNvPr id="9" name="TextBox 8">
            <a:extLst>
              <a:ext uri="{FF2B5EF4-FFF2-40B4-BE49-F238E27FC236}">
                <a16:creationId xmlns:a16="http://schemas.microsoft.com/office/drawing/2014/main" id="{EE0B433C-4061-EBF2-7CCF-1CCAD073DD2D}"/>
              </a:ext>
            </a:extLst>
          </p:cNvPr>
          <p:cNvSpPr txBox="1"/>
          <p:nvPr/>
        </p:nvSpPr>
        <p:spPr>
          <a:xfrm>
            <a:off x="732970" y="4839141"/>
            <a:ext cx="11117943" cy="1754326"/>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The visualization reveals a clear core–periphery structure: major media outlets such as </a:t>
            </a:r>
            <a:r>
              <a:rPr lang="en-US" dirty="0" err="1">
                <a:latin typeface="Arial" panose="020B0604020202020204" pitchFamily="34" charset="0"/>
                <a:cs typeface="Arial" panose="020B0604020202020204" pitchFamily="34" charset="0"/>
              </a:rPr>
              <a:t>BBCBreaking</a:t>
            </a:r>
            <a:r>
              <a:rPr lang="en-US" dirty="0">
                <a:latin typeface="Arial" panose="020B0604020202020204" pitchFamily="34" charset="0"/>
                <a:cs typeface="Arial" panose="020B0604020202020204" pitchFamily="34" charset="0"/>
              </a:rPr>
              <a:t>, CNN, Reuters, and </a:t>
            </a:r>
            <a:r>
              <a:rPr lang="en-US" dirty="0" err="1">
                <a:latin typeface="Arial" panose="020B0604020202020204" pitchFamily="34" charset="0"/>
                <a:cs typeface="Arial" panose="020B0604020202020204" pitchFamily="34" charset="0"/>
              </a:rPr>
              <a:t>SkyNews</a:t>
            </a:r>
            <a:r>
              <a:rPr lang="en-US" dirty="0">
                <a:latin typeface="Arial" panose="020B0604020202020204" pitchFamily="34" charset="0"/>
                <a:cs typeface="Arial" panose="020B0604020202020204" pitchFamily="34" charset="0"/>
              </a:rPr>
              <a:t> dominate the central region and serve as primary information hubs. Several independent origin tweets indicate that multiple parallel rumor conversations emerged simultaneously rather than being driven by a single viral post. Peripheral users form a large reactive audience that mainly amplifies content produced by highly connected core accounts, demonstrating asymmetric influence within crisis-related discussions.</a:t>
            </a:r>
          </a:p>
        </p:txBody>
      </p:sp>
    </p:spTree>
    <p:extLst>
      <p:ext uri="{BB962C8B-B14F-4D97-AF65-F5344CB8AC3E}">
        <p14:creationId xmlns:p14="http://schemas.microsoft.com/office/powerpoint/2010/main" val="3803621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A578444-E176-4605-D339-F2F514502D95}"/>
              </a:ext>
            </a:extLst>
          </p:cNvPr>
          <p:cNvGraphicFramePr>
            <a:graphicFrameLocks noGrp="1"/>
          </p:cNvGraphicFramePr>
          <p:nvPr>
            <p:extLst>
              <p:ext uri="{D42A27DB-BD31-4B8C-83A1-F6EECF244321}">
                <p14:modId xmlns:p14="http://schemas.microsoft.com/office/powerpoint/2010/main" val="1306471844"/>
              </p:ext>
            </p:extLst>
          </p:nvPr>
        </p:nvGraphicFramePr>
        <p:xfrm>
          <a:off x="185590" y="350322"/>
          <a:ext cx="11820819" cy="3880601"/>
        </p:xfrm>
        <a:graphic>
          <a:graphicData uri="http://schemas.openxmlformats.org/drawingml/2006/table">
            <a:tbl>
              <a:tblPr firstRow="1" bandRow="1">
                <a:tableStyleId>{5C22544A-7EE6-4342-B048-85BDC9FD1C3A}</a:tableStyleId>
              </a:tblPr>
              <a:tblGrid>
                <a:gridCol w="3940273">
                  <a:extLst>
                    <a:ext uri="{9D8B030D-6E8A-4147-A177-3AD203B41FA5}">
                      <a16:colId xmlns:a16="http://schemas.microsoft.com/office/drawing/2014/main" val="2387943808"/>
                    </a:ext>
                  </a:extLst>
                </a:gridCol>
                <a:gridCol w="3940273">
                  <a:extLst>
                    <a:ext uri="{9D8B030D-6E8A-4147-A177-3AD203B41FA5}">
                      <a16:colId xmlns:a16="http://schemas.microsoft.com/office/drawing/2014/main" val="2601456311"/>
                    </a:ext>
                  </a:extLst>
                </a:gridCol>
                <a:gridCol w="3940273">
                  <a:extLst>
                    <a:ext uri="{9D8B030D-6E8A-4147-A177-3AD203B41FA5}">
                      <a16:colId xmlns:a16="http://schemas.microsoft.com/office/drawing/2014/main" val="904781656"/>
                    </a:ext>
                  </a:extLst>
                </a:gridCol>
              </a:tblGrid>
              <a:tr h="2686659">
                <a:tc>
                  <a:txBody>
                    <a:bodyPr/>
                    <a:lstStyle/>
                    <a:p>
                      <a:endParaRPr lang="en-US" sz="1900" dirty="0"/>
                    </a:p>
                  </a:txBody>
                  <a:tcPr marL="96662" marR="96662" marT="48331" marB="48331"/>
                </a:tc>
                <a:tc>
                  <a:txBody>
                    <a:bodyPr/>
                    <a:lstStyle/>
                    <a:p>
                      <a:endParaRPr lang="en-US" sz="1900" dirty="0"/>
                    </a:p>
                  </a:txBody>
                  <a:tcPr marL="96662" marR="96662" marT="48331" marB="48331"/>
                </a:tc>
                <a:tc>
                  <a:txBody>
                    <a:bodyPr/>
                    <a:lstStyle/>
                    <a:p>
                      <a:endParaRPr lang="en-US" sz="1900" dirty="0"/>
                    </a:p>
                  </a:txBody>
                  <a:tcPr marL="96662" marR="96662" marT="48331" marB="48331"/>
                </a:tc>
                <a:extLst>
                  <a:ext uri="{0D108BD9-81ED-4DB2-BD59-A6C34878D82A}">
                    <a16:rowId xmlns:a16="http://schemas.microsoft.com/office/drawing/2014/main" val="907101291"/>
                  </a:ext>
                </a:extLst>
              </a:tr>
              <a:tr h="392019">
                <a:tc>
                  <a:txBody>
                    <a:bodyPr/>
                    <a:lstStyle/>
                    <a:p>
                      <a:r>
                        <a:rPr lang="en-US" sz="1200" dirty="0">
                          <a:latin typeface="Arial" panose="020B0604020202020204" pitchFamily="34" charset="0"/>
                          <a:cs typeface="Arial" panose="020B0604020202020204" pitchFamily="34" charset="0"/>
                        </a:rPr>
                        <a:t>Key media and journalist accounts occupy the highest degrees, indicating that institutional actors dominate rumor visibility and shape the flow of information. These influential nodes act as broadcast hubs that substantially amplify message reach.</a:t>
                      </a:r>
                    </a:p>
                  </a:txBody>
                  <a:tcPr marL="96662" marR="96662" marT="48331" marB="48331"/>
                </a:tc>
                <a:tc>
                  <a:txBody>
                    <a:bodyPr/>
                    <a:lstStyle/>
                    <a:p>
                      <a:pPr marL="0" algn="l" defTabSz="914400" rtl="0" eaLnBrk="1" latinLnBrk="0" hangingPunct="1"/>
                      <a:r>
                        <a:rPr lang="en-US" sz="1200" kern="1200" dirty="0">
                          <a:solidFill>
                            <a:schemeClr val="dk1"/>
                          </a:solidFill>
                          <a:latin typeface="Arial" panose="020B0604020202020204" pitchFamily="34" charset="0"/>
                          <a:ea typeface="+mn-ea"/>
                          <a:cs typeface="Arial" panose="020B0604020202020204" pitchFamily="34" charset="0"/>
                        </a:rPr>
                        <a:t>The network exhibits a heavy-tailed degree distribution, meaning most users have very few interactions, while a small number of hubs maintain extremely high connectivity. This structural inequality explains why rumors can spread widely with very limited user participation.</a:t>
                      </a:r>
                    </a:p>
                  </a:txBody>
                  <a:tcPr marL="96662" marR="96662" marT="48331" marB="48331"/>
                </a:tc>
                <a:tc>
                  <a:txBody>
                    <a:bodyPr/>
                    <a:lstStyle/>
                    <a:p>
                      <a:pPr marL="0" algn="l" defTabSz="914400" rtl="0" eaLnBrk="1" latinLnBrk="0" hangingPunct="1"/>
                      <a:r>
                        <a:rPr lang="en-US" sz="1200" kern="1200" dirty="0">
                          <a:solidFill>
                            <a:schemeClr val="dk1"/>
                          </a:solidFill>
                          <a:latin typeface="Arial" panose="020B0604020202020204" pitchFamily="34" charset="0"/>
                          <a:ea typeface="+mn-ea"/>
                          <a:cs typeface="Arial" panose="020B0604020202020204" pitchFamily="34" charset="0"/>
                        </a:rPr>
                        <a:t>Tweet activity spikes sharply immediately after the event, followed by rapid decline and intermittent secondary peaks. This burst-and-decay pattern reflects the typical public reaction cycle in crisis events, where attention is intensely concentrated but short-lived.</a:t>
                      </a:r>
                    </a:p>
                  </a:txBody>
                  <a:tcPr marL="96662" marR="96662" marT="48331" marB="48331"/>
                </a:tc>
                <a:extLst>
                  <a:ext uri="{0D108BD9-81ED-4DB2-BD59-A6C34878D82A}">
                    <a16:rowId xmlns:a16="http://schemas.microsoft.com/office/drawing/2014/main" val="737707239"/>
                  </a:ext>
                </a:extLst>
              </a:tr>
            </a:tbl>
          </a:graphicData>
        </a:graphic>
      </p:graphicFrame>
      <p:pic>
        <p:nvPicPr>
          <p:cNvPr id="5" name="Picture 4" descr="A graph of a number of users&#10;&#10;AI-generated content may be incorrect.">
            <a:extLst>
              <a:ext uri="{FF2B5EF4-FFF2-40B4-BE49-F238E27FC236}">
                <a16:creationId xmlns:a16="http://schemas.microsoft.com/office/drawing/2014/main" id="{FFC38127-F799-8EA6-A02E-A11B3F92601F}"/>
              </a:ext>
            </a:extLst>
          </p:cNvPr>
          <p:cNvPicPr>
            <a:picLocks noChangeAspect="1"/>
          </p:cNvPicPr>
          <p:nvPr/>
        </p:nvPicPr>
        <p:blipFill>
          <a:blip r:embed="rId2"/>
          <a:stretch>
            <a:fillRect/>
          </a:stretch>
        </p:blipFill>
        <p:spPr>
          <a:xfrm>
            <a:off x="635194" y="468990"/>
            <a:ext cx="3126861" cy="2335171"/>
          </a:xfrm>
          <a:prstGeom prst="rect">
            <a:avLst/>
          </a:prstGeom>
        </p:spPr>
      </p:pic>
      <p:pic>
        <p:nvPicPr>
          <p:cNvPr id="7" name="Picture 6" descr="A graph of a number of connections&#10;&#10;AI-generated content may be incorrect.">
            <a:extLst>
              <a:ext uri="{FF2B5EF4-FFF2-40B4-BE49-F238E27FC236}">
                <a16:creationId xmlns:a16="http://schemas.microsoft.com/office/drawing/2014/main" id="{4E74BE5D-B411-D6DD-B973-4E376DAF0B5F}"/>
              </a:ext>
            </a:extLst>
          </p:cNvPr>
          <p:cNvPicPr>
            <a:picLocks noChangeAspect="1"/>
          </p:cNvPicPr>
          <p:nvPr/>
        </p:nvPicPr>
        <p:blipFill>
          <a:blip r:embed="rId3"/>
          <a:stretch>
            <a:fillRect/>
          </a:stretch>
        </p:blipFill>
        <p:spPr>
          <a:xfrm>
            <a:off x="4451753" y="468990"/>
            <a:ext cx="3288493" cy="2335171"/>
          </a:xfrm>
          <a:prstGeom prst="rect">
            <a:avLst/>
          </a:prstGeom>
        </p:spPr>
      </p:pic>
      <p:pic>
        <p:nvPicPr>
          <p:cNvPr id="8" name="Picture 7" descr="A graph of a number of tweets&#10;&#10;AI-generated content may be incorrect.">
            <a:extLst>
              <a:ext uri="{FF2B5EF4-FFF2-40B4-BE49-F238E27FC236}">
                <a16:creationId xmlns:a16="http://schemas.microsoft.com/office/drawing/2014/main" id="{75B0E297-F374-390F-7F5B-553AAC32EDCA}"/>
              </a:ext>
            </a:extLst>
          </p:cNvPr>
          <p:cNvPicPr>
            <a:picLocks noChangeAspect="1"/>
          </p:cNvPicPr>
          <p:nvPr/>
        </p:nvPicPr>
        <p:blipFill>
          <a:blip r:embed="rId4"/>
          <a:stretch>
            <a:fillRect/>
          </a:stretch>
        </p:blipFill>
        <p:spPr>
          <a:xfrm>
            <a:off x="8429944" y="468990"/>
            <a:ext cx="3288493" cy="2339671"/>
          </a:xfrm>
          <a:prstGeom prst="rect">
            <a:avLst/>
          </a:prstGeom>
        </p:spPr>
      </p:pic>
      <p:sp>
        <p:nvSpPr>
          <p:cNvPr id="11" name="TextBox 10">
            <a:extLst>
              <a:ext uri="{FF2B5EF4-FFF2-40B4-BE49-F238E27FC236}">
                <a16:creationId xmlns:a16="http://schemas.microsoft.com/office/drawing/2014/main" id="{07535F83-9269-154D-83B9-16141A59CE95}"/>
              </a:ext>
            </a:extLst>
          </p:cNvPr>
          <p:cNvSpPr txBox="1"/>
          <p:nvPr/>
        </p:nvSpPr>
        <p:spPr>
          <a:xfrm>
            <a:off x="292292" y="4772079"/>
            <a:ext cx="11607413" cy="1477328"/>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This study uses the PHEME dataset, focusing on the Charlie Hebdo event. All annotated rumor and non-rumor threads were parsed from tweet JSON files. User interactions were merged into a single graph, and k-core decomposition was applied to reveal structural cohesion. A spring layout positioned core nodes, with radial placement for peripheral nodes. Additional statistical visualizations were generated using </a:t>
            </a:r>
            <a:r>
              <a:rPr lang="en-US" dirty="0" err="1">
                <a:latin typeface="Arial" panose="020B0604020202020204" pitchFamily="34" charset="0"/>
                <a:cs typeface="Arial" panose="020B0604020202020204" pitchFamily="34" charset="0"/>
              </a:rPr>
              <a:t>NetworkX</a:t>
            </a:r>
            <a:r>
              <a:rPr lang="en-US" dirty="0">
                <a:latin typeface="Arial" panose="020B0604020202020204" pitchFamily="34" charset="0"/>
                <a:cs typeface="Arial" panose="020B0604020202020204" pitchFamily="34" charset="0"/>
              </a:rPr>
              <a:t> and Matplotlib in Python.</a:t>
            </a:r>
          </a:p>
        </p:txBody>
      </p:sp>
    </p:spTree>
    <p:extLst>
      <p:ext uri="{BB962C8B-B14F-4D97-AF65-F5344CB8AC3E}">
        <p14:creationId xmlns:p14="http://schemas.microsoft.com/office/powerpoint/2010/main" val="8485585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343</Words>
  <Application>Microsoft Office PowerPoint</Application>
  <PresentationFormat>Widescreen</PresentationFormat>
  <Paragraphs>13</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Rumor Propagation in the PHEME Dataset: Insights from the Charlie Hebdo Event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chuhan ni</dc:creator>
  <cp:lastModifiedBy>chuhan ni</cp:lastModifiedBy>
  <cp:revision>1</cp:revision>
  <dcterms:created xsi:type="dcterms:W3CDTF">2025-12-11T06:02:20Z</dcterms:created>
  <dcterms:modified xsi:type="dcterms:W3CDTF">2025-12-11T06:19:04Z</dcterms:modified>
</cp:coreProperties>
</file>